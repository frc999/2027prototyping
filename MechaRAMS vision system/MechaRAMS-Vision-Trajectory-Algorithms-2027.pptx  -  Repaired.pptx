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4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12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212121"/>
                </a:solidFill>
                <a:latin typeface="Arial"/>
              </a:rPr>
              <a:t>Final distance from target (cm)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End-position error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Path following only</c:v>
                </c:pt>
                <c:pt idx="1">
                  <c:v>Precision only (whole way)</c:v>
                </c:pt>
                <c:pt idx="2">
                  <c:v>Sequential handoff</c:v>
                </c:pt>
                <c:pt idx="3">
                  <c:v>Spatial handoff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6.6</c:v>
                </c:pt>
                <c:pt idx="1">
                  <c:v>4.5</c:v>
                </c:pt>
                <c:pt idx="2">
                  <c:v>2.7</c:v>
                </c:pt>
                <c:pt idx="3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C3-4C4D-9DBA-D4AD713D93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44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74320"/>
            <a:ext cx="105156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1168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10149840" y="320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Localization &amp; Precision Driving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154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algorithms we are testing for 2027 — and what we learned in 2026</a:t>
            </a:r>
            <a:endParaRPr lang="en-US" sz="2000" dirty="0"/>
          </a:p>
        </p:txBody>
      </p:sp>
      <p:pic>
        <p:nvPicPr>
          <p:cNvPr id="7" name="Image 1" descr="/tmp/deck/img/handof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34640" y="3886200"/>
            <a:ext cx="649224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6355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and mentors  · 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43560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143560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783080" y="1325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am I?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783080" y="17830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Localization: odometry, AprilTags, multi-tag, single-tag PnP vs TrigSolve, trust models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267004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2670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783080" y="25603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I drive there?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83080" y="3017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Trajectory: path following, drive-to-pose, and the handoff between them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390448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2960" y="39044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78308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783080" y="4251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last season, what hurt us, and what changes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5138928"/>
            <a:ext cx="658368" cy="658368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" y="51389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783080" y="50292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decide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78308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testing, one competition configuration, what the same data tells us for free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robot constantly answers two questions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“Where am I?”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31520" y="2103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— combine wheel counting, a gyro, and camera views of AprilTags into one continuous position estimate.</a:t>
            </a:r>
            <a:endParaRPr lang="en-US" sz="1400" dirty="0"/>
          </a:p>
        </p:txBody>
      </p:sp>
      <p:pic>
        <p:nvPicPr>
          <p:cNvPr id="11" name="Image 1" descr="/tmp/deck/img/multit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" y="3200400"/>
            <a:ext cx="4754880" cy="2834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492240" y="15544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“How do I drive there?”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92240" y="2103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— cover distance quickly, then arrive at an exact spot. Two different jobs, two different tools.</a:t>
            </a:r>
            <a:endParaRPr lang="en-US" sz="1400" dirty="0"/>
          </a:p>
        </p:txBody>
      </p:sp>
      <p:pic>
        <p:nvPicPr>
          <p:cNvPr id="15" name="Image 2" descr="/tmp/deck/img/handoff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680" y="3200400"/>
            <a:ext cx="475488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“Where am I?”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Localization — from wheel counts and street signs to one trusted position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AprilTags — street signs with known addresses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tag is a black-and-white square whose exact position on the field is published before the season — a street sign with a known address.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reads the sign and works backwards: “if that sign looks like THAT from here, I must be standing HERE.”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Part 1 is about how well we do that “working backwards” — especially when the view is bad.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3803904"/>
            <a:ext cx="645566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see the “Main St / 5th Ave” sign at a 45° angle, half a block away. You instantly know roughly where you stand. The robot does the same — 50 times per second.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cameras at all? Because wheels lie (next slide).</a:t>
            </a:r>
            <a:endParaRPr lang="en-US" sz="1300" dirty="0"/>
          </a:p>
        </p:txBody>
      </p:sp>
      <p:pic>
        <p:nvPicPr>
          <p:cNvPr id="12" name="Image 1" descr="/tmp/deck/img/aprilt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0" y="1554480"/>
            <a:ext cx="3566160" cy="3566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9520" y="5212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36h11 AprilTag (what our cameras look for)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1 — Wheel odometry + gyro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a smooth position estimate 250× per second, always available — cameras cannot do that (30–50 fps, and tags are not always visible).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wheel rotations + uses the gyro (an electronic inner ear).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crossing a room with your eyes closed, counting steps: smooth, but every wheel slip is a miscounted step.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pile up → it drifts. It is the base layer, never the whole answer.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53542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10 s of driving, wheels-only can be off by tens of cm. Each camera fix snaps the error back down — “opening your eyes” for a moment.</a:t>
            </a:r>
            <a:endParaRPr lang="en-US" sz="1050" dirty="0"/>
          </a:p>
        </p:txBody>
      </p:sp>
      <p:pic>
        <p:nvPicPr>
          <p:cNvPr id="13" name="Image 1" descr="/tmp/deck/img/drif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554480"/>
            <a:ext cx="5577840" cy="3017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 — every configuration we test keeps this as the base layer.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2 — Multi-tag solve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Pins down position AND direction almost perfectly whenever one camera sees two (or more) tags in the same picture.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landmarks in one view → only one spot on the field fits both.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only measurement whose DIRECTION we trust — it also keeps the gyro honest.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A/B contest: every configuration uses it whenever 2 tags are visible.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48056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53542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both the corner drugstore AND the church tower — there is exactly one street corner where both look like that.</a:t>
            </a:r>
            <a:endParaRPr lang="en-US" sz="1050" dirty="0"/>
          </a:p>
        </p:txBody>
      </p:sp>
      <p:pic>
        <p:nvPicPr>
          <p:cNvPr id="13" name="Image 1" descr="/tmp/deck/img/multita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463040"/>
            <a:ext cx="5394960" cy="33832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5029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question: what do we do when only ONE tag is visible?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single-tag problem — where the real contest is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716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tag in view happens a lot: during turns, at sharp angles, at the edge of the camera image, far away.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curved test path was designed to create exactly these moments (a 25° rotation sweep mid-path).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3 and 4 are two competing answers to the same question: what is a single tag worth?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3383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3 — Single-tag PnP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960120" y="4069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baseline. Guess the tag's tilt from the picture, work backwards to the robot. Vulnerable to the “mirror problem.”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199632" y="3383280"/>
            <a:ext cx="5257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28232" y="35661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4 — TrigSolve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28232" y="406908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challenger. Skip the tilt guess entirely — use the direction we already know from the gyro. New for 2027, under test.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3 — Single-tag PnP (baseline)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a full position from just ONE tag — no help from any other sensor. Works even if the gyro is wrong.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at how the tag's square shape is distorted in the picture → guesses the tag's position AND tilt → works backwards.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Weakness: judging the tilt of a flat square from far away is genuinely hard.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poster angled 20° left vs 20° right looks almost identical across a room — the computer has the same problem (“ambiguity”).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572000"/>
            <a:ext cx="5394960" cy="1143000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62686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approaches at an angle, sees one tag at 3 m. PnP sometimes picks the mirror-image tilt — and reports a position decimeters off.</a:t>
            </a:r>
            <a:endParaRPr lang="en-US" sz="1050" dirty="0"/>
          </a:p>
        </p:txBody>
      </p:sp>
      <p:pic>
        <p:nvPicPr>
          <p:cNvPr id="13" name="Image 1" descr="/tmp/deck/img/ambigu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715000" cy="2651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480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protect ourselves with an “ambiguity gate” — throw away suspicious frames. A bandage, not a cure.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wrong tilt is so costly — the lever arm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trust the direction PnP reports (2026 lesson). But the tilt guess still participates in computing the POSITION.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tilt swings the computed position around the tag like a lever arm.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farther the tag, the longer the lever — small tilt error, big position error.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365760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7947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</a:t>
            </a:r>
            <a:endParaRPr lang="en-US" sz="1050" dirty="0"/>
          </a:p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error  ≈  tilt error (radians)  ×  distance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degrees of tilt noise at 2 m → several cm of error.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mirror flip → decimeters, in one frame.</a:t>
            </a:r>
            <a:endParaRPr lang="en-US" sz="1050" dirty="0"/>
          </a:p>
        </p:txBody>
      </p:sp>
      <p:pic>
        <p:nvPicPr>
          <p:cNvPr id="11" name="Image 1" descr="/tmp/deck/img/ambigu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37960" y="1737360"/>
            <a:ext cx="5394960" cy="251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44805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error is bimodal: usually fine, occasionally terrible. Competition cares about the occasional terrible frame.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4 — Single-tag TrigSolve (challenger)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the unreliable tilt guess from single-tag frames. The mirror problem physically cannot affect it — error becomes small and smooth instead of occasionally huge.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74320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the robot already knows which way it is facing (gyro, kept honest by multi-tag frames).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the EASY camera measurements: direction to the tag (very precise) and distance (decent).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facing + direction &amp; range + tag's known address → position.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67258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sign is 2 m ahead-and-a-bit-left, and I know I’m facing the board → I must be standing HERE.”</a:t>
            </a:r>
            <a:endParaRPr lang="en-US" sz="1050" dirty="0"/>
          </a:p>
        </p:txBody>
      </p:sp>
      <p:pic>
        <p:nvPicPr>
          <p:cNvPr id="13" name="Image 1" descr="/tmp/deck/img/trigsol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715000" cy="3200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937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from FRC 6328; now built into PhotonVision; team 1678 raced it all season. We test it against PnP.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 vs TrigSolve — they fail in OPPOSITE ways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283464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Single-tag PnP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Mirror problem (ambiguity)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VULNERABLE — decimeter jumps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IMMUNE — tilt drops out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Gyro / heading drift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IMMUNE — uses no gyro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VULNERABLE — inherits gyro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character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Bimodal: fine or terrible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Smooth: grows gently with heading error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 range, head-on views, or a broken gyro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 / angled views, turns — the common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892040"/>
            <a:ext cx="10927080" cy="1325880"/>
          </a:xfrm>
          <a:prstGeom prst="roundRect">
            <a:avLst>
              <a:gd name="adj" fmla="val 5517"/>
            </a:avLst>
          </a:prstGeom>
          <a:solidFill>
            <a:srgbClr val="EAF3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68680" y="5029200"/>
            <a:ext cx="10469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MATH: 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TrigSolve error ≈ heading error × distance ≈ 3.5 cm per degree at 2 m. Our gyro stays within ~0.5° when multi-tag frames keep correcting it → ≤ ~2 cm. That is why opposite failure modes matter: we A/B them with data instead of arguing.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merges — the estimator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13258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measurements flow into one running weighted average (a Kalman filter) — like averaging opinions, but listening more to the friend who is usually right.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camera measurement carries a trust weight. Bad frames are rejected before they ever enter (impossible positions, too far, too ambiguous).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2F2F2"/>
          </a:solidFill>
          <a:ln w="1905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01752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+ gyro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250× / second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DF2FB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4114800"/>
            <a:ext cx="3017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fixes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/ second, gated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846320" y="352044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BEAEA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3520440"/>
            <a:ext cx="27432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ESTIMATOR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average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595360" y="3520440"/>
            <a:ext cx="2834640" cy="1051560"/>
          </a:xfrm>
          <a:prstGeom prst="roundRect">
            <a:avLst>
              <a:gd name="adj" fmla="val 6957"/>
            </a:avLst>
          </a:prstGeom>
          <a:solidFill>
            <a:srgbClr val="EAF3EA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95360" y="3520440"/>
            <a:ext cx="28346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trusted pose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aiming &amp; driving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840480" y="3401568"/>
            <a:ext cx="1005840" cy="502920"/>
          </a:xfrm>
          <a:prstGeom prst="line">
            <a:avLst/>
          </a:prstGeom>
          <a:noFill/>
          <a:ln w="31750">
            <a:solidFill>
              <a:srgbClr val="595959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840480" y="4498848"/>
            <a:ext cx="1005840" cy="0"/>
          </a:xfrm>
          <a:prstGeom prst="line">
            <a:avLst/>
          </a:prstGeom>
          <a:noFill/>
          <a:ln w="31750">
            <a:solidFill>
              <a:srgbClr val="4472C4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589520" y="4041648"/>
            <a:ext cx="100584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2960" y="52578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 is matched to where the robot was when the photo was taken (timestamping) — at 2 m/s a 50–100 ms-old picture is 10–20 cm of travel. Non-negotiable plumbing in every configuration.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5 &amp; 6 — how much to trust a camera fix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28930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States the confidence of each camera measurement so the estimator listens the right amount — in the right DIRECTIONS.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Headlights at night: you know the car’s DIRECTION precisely, but its DISTANCE only roughly. Cameras are the same about tags.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real uncertainty is an OVAL pointing at the tag — fuzzy along the line to it, sharp across it.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5 (circle, baseline): same trust in every direction. Simple, validated — but over-trusts the fuzzy distance.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6 (oval, challenger): tells the truth about the shape.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" y="47091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764024"/>
            <a:ext cx="51755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circle, the robot’s belief “breathes” toward/away from the board with each frame — our prime suspect for the 8 cm of drift AFTER the robot stopped (July 1 test).</a:t>
            </a:r>
            <a:endParaRPr lang="en-US" sz="1050" dirty="0"/>
          </a:p>
        </p:txBody>
      </p:sp>
      <p:pic>
        <p:nvPicPr>
          <p:cNvPr id="13" name="Image 1" descr="/tmp/deck/img/ellip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645920"/>
            <a:ext cx="5715000" cy="2606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4526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the oval’s real size must be MEASURED on the robot first (test step 15). Until then it runs with placeholder numbers.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drive there?”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 — fast transit, precise arrival, and when to switch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7 — Path following (PathPlanner)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distance FAST and smoothly along a pre-planned route, respecting what the drivetrain can physically do.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dancer performing a memorized routine to music: at each beat, be at this spot.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catch: it ends when the MUSIC ends — not when you are on your mark.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tests: stops ~7 cm from the true target. Fine mid-field; not fine for scoring.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52628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581144"/>
            <a:ext cx="51755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robot: PathPlanner computed “this path takes 2.0 s” and stopped at t = 2.0 s — wherever the robot actually was. Sometimes fine, sometimes not.</a:t>
            </a:r>
            <a:endParaRPr lang="en-US" sz="1050" dirty="0"/>
          </a:p>
        </p:txBody>
      </p:sp>
      <p:pic>
        <p:nvPicPr>
          <p:cNvPr id="13" name="Image 1" descr="/tmp/deck/img/pa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554480"/>
            <a:ext cx="5577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8 — Drive-to-pose (precision parking)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8016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33502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arrival: finishes only when the robot is actually AT the target — on position, never on the clock.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" y="2606040"/>
            <a:ext cx="5394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route, no clock: drive → measure → correct → repeat.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“Settle” check: must STAY inside the tolerance for a moment — one lucky bounce through the target doesn’t count.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timeout so it can never get stuck forever.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tests: ~3 cm. Slower — wrong tool for crossing the field.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4617720"/>
            <a:ext cx="5394960" cy="10972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2648" y="4672584"/>
            <a:ext cx="51755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  <a:p>
            <a:pPr marL="0" indent="0">
              <a:buNone/>
            </a:pPr>
            <a:r>
              <a:rPr lang="en-US" sz="125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parking: you don’t follow a script for 4.0 seconds and stop — you keep correcting until the car is IN the spot.</a:t>
            </a:r>
            <a:endParaRPr lang="en-US" sz="1050" dirty="0"/>
          </a:p>
        </p:txBody>
      </p:sp>
      <p:pic>
        <p:nvPicPr>
          <p:cNvPr id="13" name="Image 1" descr="/tmp/deck/img/pos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7920" y="1554480"/>
            <a:ext cx="55778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Algorithms 9 &amp; 10 — combining them: the handoff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12648" y="1289304"/>
            <a:ext cx="1084478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IT SOLVES</a:t>
            </a:r>
            <a:endParaRPr lang="en-US" sz="105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BOTH speed and precision: the dancer covers the field, the parker finishes the job. The two options differ only in WHEN to switch.</a:t>
            </a:r>
            <a:endParaRPr lang="en-US" sz="1050" dirty="0"/>
          </a:p>
        </p:txBody>
      </p:sp>
      <p:pic>
        <p:nvPicPr>
          <p:cNvPr id="10" name="Image 1" descr="/tmp/deck/img/handof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88720" y="2377440"/>
            <a:ext cx="9784080" cy="274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5257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9 — Sequential: 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whole routine, then park. Predictable, kept for debugging — but you wait for the music to end even when you’re already close.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309360" y="5257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 10 — Spatial (our choice): 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the robot crosses a line on the floor (x &gt; 3.3 m), abandon the routine and start parking. Faster cycle, parker controls more of the approach.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in simulation — July 2026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3716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7863840" y="15544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Handoffs park 2–3× closer than path-following alone.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chosen: nearly sequential’s accuracy, faster cycle, no timeouts.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numbers from replayable simulation logs — the robot-carpet re-run is test steps 16–19.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863840" y="49377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made 2026-07-01: spatial handoff is the competition pattern; the others remain as debug / baseline tools.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051560"/>
            <a:ext cx="2194560" cy="1527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0" y="34290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last season, what hurt us, and what changes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ran in 2026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Limelight cameras (of the 4 we own) + QuestNav headset tracking.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CTRE’s built-in estimator; a state machine chose ONE “best” camera result per loop.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MegaTag2: the Limelight computed poses using the heading we sent 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gates: reject vision &gt; 0.6–0.8 m from odometry; hard pose resets to re-anchor.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Turret auto-aim computed the hub angle from this fused pose.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1463040"/>
            <a:ext cx="5029200" cy="3108960"/>
          </a:xfrm>
          <a:prstGeom prst="roundRect">
            <a:avLst>
              <a:gd name="adj" fmla="val 2941"/>
            </a:avLst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03720" y="16916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was a thoughtful design.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MT1/MT2 selection, IMU management, and Quest fallback logic were more sophisticated than most teams’.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losses were in HOW measurements were weighted and discarded — and in having no way to measure any of it.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we all remember: global position good enough to drive — but 2–3° of heading error was fatal for shooting, with no way to check it.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hurt us — five findings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344168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325880" y="123444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heading feedback —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MegaTag2 poses are computed FROM the heading we send — then we fused its heading back in. The estimator “confirmed” its own guess; drift locked in.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2267712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camera per loop —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picked one “best” camera and threw the other’s valid measurement away. More correct measurements always help — the filter does the weighting.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410712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25880" y="3300984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logging / replay —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logs → every tuning argument was guesswork. This was the single biggest gap.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443984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4443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25880" y="4334256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Mid-match pose resets —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Re-anchoring snapped the pose while driving — visible as aim jumps, and one measurement was trusted completely.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5477256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25880" y="5367528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that lock in drift — </a:t>
            </a: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“Reject vision &gt; 0.6 m from odometry” — but when odometry itself drifted past the gate, every CORRECT camera fix got rejected.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2–3° problem, in numbers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1371600"/>
            <a:ext cx="10881360" cy="1645920"/>
          </a:xfrm>
          <a:prstGeom prst="roundRect">
            <a:avLst>
              <a:gd name="adj" fmla="val 4444"/>
            </a:avLst>
          </a:prstGeom>
          <a:solidFill>
            <a:srgbClr val="FBEAEA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15087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LITTLE MATH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distance ≈ heading error (radians) × shot distance</a:t>
            </a:r>
            <a:endParaRPr lang="en-US" sz="1100" dirty="0"/>
          </a:p>
          <a:p>
            <a:pPr marL="0" indent="0">
              <a:buNone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3° × 5 m ≈ 26 cm off at the hub — the difference between scoring and bouncing out.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2026, the shot was aimed entirely from the fused global pose — heading error went straight into the shot, invisibly.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1–5 each nudged the heading or position a little; the shot paid for all of them at once.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2027 fixes attack every link: no circular heading (fix 1), more measurements (fix 2), logs to SEE the error (fix 3), no snaps (fix 4), physics-based rejection instead of hard gates (fix 5).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→ 2027 — what changes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535424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season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 prototype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 fused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“best” per loop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valid measurement, every camera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Direction from single 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Fused (circular feedback)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— direction only from multi-tag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Single-tag 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only, gated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PnP vs TrigSolve — decided by A/B test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in distance, uncalibrated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distance² law; circle vs oval A/B, then fitted from logs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Bad-frame handling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 gates + mid-match resets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Physics-based rejection; resets only when stopped + quarantine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Driving finish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ends on the clock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Spatial handoff → drive-to-pose, ends on 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Measurement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(dashboard only)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AdvantageKit logs — every frame replayable, every decision explainable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decide — test, don’t argue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48640" cy="548640"/>
          </a:xfrm>
          <a:prstGeom prst="ellipse">
            <a:avLst/>
          </a:prstGeom>
          <a:solidFill>
            <a:srgbClr val="5959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17320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1–12: straight + curved runs, reset test. Same start pose and target for every configuration — numbers compare 1:1.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334256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62856" y="1691640"/>
            <a:ext cx="548640" cy="548640"/>
          </a:xfrm>
          <a:prstGeom prst="ellipse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628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248656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robot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62856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13–19: camera calibration, a static accuracy grid, fitting the oval’s real size, then the same driving tests on carpet.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65592" y="146304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394192" y="1691640"/>
            <a:ext cx="548640" cy="54864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9419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079992" y="1737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94192" y="23774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 the configuration with the best WORST-CASE error over 5 runs — competition cares about your worst cycle, not your average.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contests (PnP vs TrigSolve, circle vs oval) run as A/B switches in the same code — same frames, fair fight, one variable at a time.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45/45 automated tests already guard the math before any run happens.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robot, one configuration — but smart every frame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 robot runs ONE fixed setup — no driver-switched vision modes. A mode nobody practiced with loses matches.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robot DOES switch algorithms — automatically, per camera frame, 50× a second: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88720" y="2880360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325880" y="28803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2 tags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577840" y="288036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multi-tag solve (always wins)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88720" y="3593592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25880" y="359359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Sees 1 tag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577840" y="35935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A/B winner (PnP or TrigSolve)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88720" y="4306824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25880" y="430682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heading available for that frame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577840" y="430682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quiet fallback to PnP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88720" y="5020056"/>
            <a:ext cx="420624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25880" y="502005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looks impossible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577840" y="502005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rejected, with the reason logged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game situation picks the algorithm — faster and more reliably than any human could.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— the same logs answer camera placement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placement is really the question “what does each camera see, how often, and how well?” — and every test run records exactly that. No extra work.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Cross-eye angle (±18° today — a guess)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31520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curved runs map when we drop to 1 or 0 visible tags mid-turn. The blind-moment map says whether to widen or narrow the cameras.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34256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62856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cameras or 4?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562856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blind moments happen mostly when the robot rotates away from the board — that is the data-driven trigger for the rear pair (code is already wired for them).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165592" y="25146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94192" y="2697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 mount bad?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394192" y="352044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camera consistently fuzzier than its twin at the same distance has a flexing mount or bad calibration — the error-vs-distance curves expose it immediately.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 sheet — which algorithm wins when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4352544"/>
        </p:xfrm>
        <a:graphic>
          <a:graphicData uri="http://schemas.openxmlformats.org/drawingml/2006/table">
            <a:tbl>
              <a:tblPr/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wins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tags visible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Multi-tag solve — every configuration agrees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tag, angled or far view (common during approaches)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 expected — the mirror problem can’t touch it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Curved / rotating trajectory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TrigSolve matters more — turning multiplies single-tag moments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speed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Timestamping + spatial handoff; fewer clean frames again favors TrigSolve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Parked near the board (final alignment)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Anisotropic “oval” trust — once fitted from robot logs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a collision / gyro glitch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PnP is safer until a multi-tag view fixes the heading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why losing algorithms stay in the code as fallbacks instead of being deleted.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8872"/>
            <a:ext cx="749808" cy="52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" y="6400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MechaRAMS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10378440" y="164592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999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417320" y="128016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256032" y="932688"/>
            <a:ext cx="11686032" cy="0"/>
          </a:xfrm>
          <a:prstGeom prst="line">
            <a:avLst/>
          </a:prstGeom>
          <a:noFill/>
          <a:ln w="2794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0" y="128016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 (Perspective-n-Point)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answering “given how these known points look in my photo, where was the camera?”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199339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Ambiguity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mirror-image tilts of a flat tag that look nearly identical to the camera.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14400" y="270662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position by counting your own movements (wheels + gyro).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14400" y="34198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Covariance / std deviation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“how sure am I?” number on a measurement; the merge listens more to smaller numbers.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914400" y="413308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/ estimator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weighted average combining odometry with camera fixes.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14400" y="48463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switching from the route-follower to the precision parker mid-drive.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14400" y="555955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 — </a:t>
            </a: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requiring the robot to STAY on target briefly before declaring success.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deck/img/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685800"/>
            <a:ext cx="1737360" cy="1207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14884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remember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30175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Layers, not one magic algorithm.  </a:t>
            </a: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 always runs; cameras correct it; the contests are only about the weakest links (single tags, trust shape).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371600" y="3977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Arrive on position, not on the clock.  </a:t>
            </a: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for transit, drive-to-pose for the finish — the spatial handoff gives us both.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49377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Measure, don’t argue.  </a:t>
            </a: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2026’s biggest gap wasn’t an algorithm — it was having no logs. Now every claim on these slides is testable, and the tests are already written.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658600" y="6492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3481</Words>
  <Application>Microsoft Office PowerPoint</Application>
  <PresentationFormat>Widescreen</PresentationFormat>
  <Paragraphs>382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Tsekhansky</cp:lastModifiedBy>
  <cp:revision>2</cp:revision>
  <dcterms:created xsi:type="dcterms:W3CDTF">2026-07-18T18:16:27Z</dcterms:created>
  <dcterms:modified xsi:type="dcterms:W3CDTF">2026-07-18T18:26:07Z</dcterms:modified>
</cp:coreProperties>
</file>